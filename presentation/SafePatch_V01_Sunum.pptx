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01da2c81ce4e2c" /><Relationship Type="http://schemas.openxmlformats.org/officeDocument/2006/relationships/extended-properties" Target="/docProps/app.xml" Id="Re752e894dccd4efc" /><Relationship Type="http://schemas.openxmlformats.org/officeDocument/2006/relationships/officeDocument" Target="/ppt/presentation.xml" Id="Rca7bb98e84904b2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6f402c09b7844e9"/>
  </p:sldMasterIdLst>
  <p:notesMasterIdLst>
    <p:notesMasterId xmlns:r="http://schemas.openxmlformats.org/officeDocument/2006/relationships" r:id="R245a61e1f5ce4a82"/>
  </p:notesMasterIdLst>
  <p:sldIdLst>
    <p:sldId xmlns:r="http://schemas.openxmlformats.org/officeDocument/2006/relationships" id="256" r:id="R801db9d6c6654cb1"/>
    <p:sldId xmlns:r="http://schemas.openxmlformats.org/officeDocument/2006/relationships" id="257" r:id="R50e928ebbd2f4088"/>
    <p:sldId xmlns:r="http://schemas.openxmlformats.org/officeDocument/2006/relationships" id="258" r:id="R18bc912befa64134"/>
    <p:sldId xmlns:r="http://schemas.openxmlformats.org/officeDocument/2006/relationships" id="259" r:id="R5117ad6a7d0044c2"/>
    <p:sldId xmlns:r="http://schemas.openxmlformats.org/officeDocument/2006/relationships" id="260" r:id="R5d28dcd9f61d4a9e"/>
    <p:sldId xmlns:r="http://schemas.openxmlformats.org/officeDocument/2006/relationships" id="261" r:id="R3e40671cc4b642f5"/>
    <p:sldId xmlns:r="http://schemas.openxmlformats.org/officeDocument/2006/relationships" id="262" r:id="R7cc64fc32a164cd7"/>
    <p:sldId xmlns:r="http://schemas.openxmlformats.org/officeDocument/2006/relationships" id="263" r:id="R71b2eb14a3a14520"/>
    <p:sldId xmlns:r="http://schemas.openxmlformats.org/officeDocument/2006/relationships" id="264" r:id="Rae85255fb26c4bea"/>
    <p:sldId xmlns:r="http://schemas.openxmlformats.org/officeDocument/2006/relationships" id="265" r:id="R859d03ea3c2d449e"/>
    <p:sldId xmlns:r="http://schemas.openxmlformats.org/officeDocument/2006/relationships" id="266" r:id="R788d1670fc5a4323"/>
    <p:sldId xmlns:r="http://schemas.openxmlformats.org/officeDocument/2006/relationships" id="267" r:id="Rbe986ae664d548e9"/>
    <p:sldId xmlns:r="http://schemas.openxmlformats.org/officeDocument/2006/relationships" id="268" r:id="R1f3aa313e9d141cb"/>
    <p:sldId xmlns:r="http://schemas.openxmlformats.org/officeDocument/2006/relationships" id="269" r:id="R4df160ba2caf4db6"/>
    <p:sldId xmlns:r="http://schemas.openxmlformats.org/officeDocument/2006/relationships" id="270" r:id="Rd2e10bdf68dc4275"/>
    <p:sldId xmlns:r="http://schemas.openxmlformats.org/officeDocument/2006/relationships" id="271" r:id="Reddddbc4fb504c45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b81acdb966bb41cc"/>
      <p:bold xmlns:r="http://schemas.openxmlformats.org/officeDocument/2006/relationships" r:id="Re8d9dbc7bd944d65"/>
      <p:italic xmlns:r="http://schemas.openxmlformats.org/officeDocument/2006/relationships" r:id="Rdd93d04d6ebf4b4e"/>
      <p:boldItalic xmlns:r="http://schemas.openxmlformats.org/officeDocument/2006/relationships" r:id="Rcd9b04857973496a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d555f879c1477f" /><Relationship Type="http://schemas.openxmlformats.org/officeDocument/2006/relationships/slideMaster" Target="/ppt/slideMasters/slideMaster1.xml" Id="Re6f402c09b7844e9" /><Relationship Type="http://schemas.openxmlformats.org/officeDocument/2006/relationships/notesMaster" Target="/ppt/notesMasters/notesMaster1.xml" Id="R245a61e1f5ce4a82" /><Relationship Type="http://schemas.openxmlformats.org/officeDocument/2006/relationships/presProps" Target="/ppt/presProps.xml" Id="R5d8319481e2a409e" /><Relationship Type="http://schemas.openxmlformats.org/officeDocument/2006/relationships/viewProps" Target="/ppt/viewProps.xml" Id="Raa40c452c9514522" /><Relationship Type="http://schemas.openxmlformats.org/officeDocument/2006/relationships/tableStyles" Target="/ppt/tableStyles.xml" Id="R45e0bd5949c54525" /><Relationship Type="http://schemas.openxmlformats.org/officeDocument/2006/relationships/font" Target="/ppt/fonts/font.dat" Id="Rb81acdb966bb41cc" /><Relationship Type="http://schemas.openxmlformats.org/officeDocument/2006/relationships/font" Target="/ppt/fonts/font2.dat" Id="Re8d9dbc7bd944d65" /><Relationship Type="http://schemas.openxmlformats.org/officeDocument/2006/relationships/font" Target="/ppt/fonts/font3.dat" Id="Rdd93d04d6ebf4b4e" /><Relationship Type="http://schemas.openxmlformats.org/officeDocument/2006/relationships/font" Target="/ppt/fonts/font4.dat" Id="Rcd9b04857973496a" /><Relationship Type="http://schemas.openxmlformats.org/officeDocument/2006/relationships/slide" Target="/ppt/slides/slide1.xml" Id="R801db9d6c6654cb1" /><Relationship Type="http://schemas.openxmlformats.org/officeDocument/2006/relationships/slide" Target="/ppt/slides/slide2.xml" Id="R50e928ebbd2f4088" /><Relationship Type="http://schemas.openxmlformats.org/officeDocument/2006/relationships/slide" Target="/ppt/slides/slide3.xml" Id="R18bc912befa64134" /><Relationship Type="http://schemas.openxmlformats.org/officeDocument/2006/relationships/slide" Target="/ppt/slides/slide4.xml" Id="R5117ad6a7d0044c2" /><Relationship Type="http://schemas.openxmlformats.org/officeDocument/2006/relationships/slide" Target="/ppt/slides/slide5.xml" Id="R5d28dcd9f61d4a9e" /><Relationship Type="http://schemas.openxmlformats.org/officeDocument/2006/relationships/slide" Target="/ppt/slides/slide6.xml" Id="R3e40671cc4b642f5" /><Relationship Type="http://schemas.openxmlformats.org/officeDocument/2006/relationships/slide" Target="/ppt/slides/slide7.xml" Id="R7cc64fc32a164cd7" /><Relationship Type="http://schemas.openxmlformats.org/officeDocument/2006/relationships/slide" Target="/ppt/slides/slide8.xml" Id="R71b2eb14a3a14520" /><Relationship Type="http://schemas.openxmlformats.org/officeDocument/2006/relationships/slide" Target="/ppt/slides/slide9.xml" Id="Rae85255fb26c4bea" /><Relationship Type="http://schemas.openxmlformats.org/officeDocument/2006/relationships/slide" Target="/ppt/slides/slide10.xml" Id="R859d03ea3c2d449e" /><Relationship Type="http://schemas.openxmlformats.org/officeDocument/2006/relationships/slide" Target="/ppt/slides/slide11.xml" Id="R788d1670fc5a4323" /><Relationship Type="http://schemas.openxmlformats.org/officeDocument/2006/relationships/slide" Target="/ppt/slides/slide12.xml" Id="Rbe986ae664d548e9" /><Relationship Type="http://schemas.openxmlformats.org/officeDocument/2006/relationships/slide" Target="/ppt/slides/slide13.xml" Id="R1f3aa313e9d141cb" /><Relationship Type="http://schemas.openxmlformats.org/officeDocument/2006/relationships/slide" Target="/ppt/slides/slide14.xml" Id="R4df160ba2caf4db6" /><Relationship Type="http://schemas.openxmlformats.org/officeDocument/2006/relationships/slide" Target="/ppt/slides/slide15.xml" Id="Rd2e10bdf68dc4275" /><Relationship Type="http://schemas.openxmlformats.org/officeDocument/2006/relationships/slide" Target="/ppt/slides/slide16.xml" Id="Reddddbc4fb504c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4868bea4c64a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01871e208048e3" /><Relationship Type="http://schemas.openxmlformats.org/officeDocument/2006/relationships/notesMaster" Target="/ppt/notesMasters/notesMaster1.xml" Id="R384bd40ca29c4f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921c38076047cc" /><Relationship Type="http://schemas.openxmlformats.org/officeDocument/2006/relationships/notesMaster" Target="/ppt/notesMasters/notesMaster1.xml" Id="R10aaadef55db40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e8511cd05c4c7b" /><Relationship Type="http://schemas.openxmlformats.org/officeDocument/2006/relationships/notesMaster" Target="/ppt/notesMasters/notesMaster1.xml" Id="Raaa74bb86a2144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3d9b04fd334ef2" /><Relationship Type="http://schemas.openxmlformats.org/officeDocument/2006/relationships/notesMaster" Target="/ppt/notesMasters/notesMaster1.xml" Id="R24e242ef3f0b4f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95cc68ac624f05" /><Relationship Type="http://schemas.openxmlformats.org/officeDocument/2006/relationships/notesMaster" Target="/ppt/notesMasters/notesMaster1.xml" Id="R0df2616319054b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ebc6d52dce4d49" /><Relationship Type="http://schemas.openxmlformats.org/officeDocument/2006/relationships/notesMaster" Target="/ppt/notesMasters/notesMaster1.xml" Id="R7a4bef9937bc47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c30c4831c44236" /><Relationship Type="http://schemas.openxmlformats.org/officeDocument/2006/relationships/notesMaster" Target="/ppt/notesMasters/notesMaster1.xml" Id="R30df97b1923c45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447d6ca38d41cf" /><Relationship Type="http://schemas.openxmlformats.org/officeDocument/2006/relationships/notesMaster" Target="/ppt/notesMasters/notesMaster1.xml" Id="Re02fe42c8f284f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ed44b4bd304111" /><Relationship Type="http://schemas.openxmlformats.org/officeDocument/2006/relationships/notesMaster" Target="/ppt/notesMasters/notesMaster1.xml" Id="R4348a158c3b34d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06308a0680496f" /><Relationship Type="http://schemas.openxmlformats.org/officeDocument/2006/relationships/notesMaster" Target="/ppt/notesMasters/notesMaster1.xml" Id="R76a49c5f6f6547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e9a60bfc34418d" /><Relationship Type="http://schemas.openxmlformats.org/officeDocument/2006/relationships/notesMaster" Target="/ppt/notesMasters/notesMaster1.xml" Id="R8c0b526e5ef349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fef39023f94224" /><Relationship Type="http://schemas.openxmlformats.org/officeDocument/2006/relationships/notesMaster" Target="/ppt/notesMasters/notesMaster1.xml" Id="R0b069e472aa046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63ed05197841e7" /><Relationship Type="http://schemas.openxmlformats.org/officeDocument/2006/relationships/notesMaster" Target="/ppt/notesMasters/notesMaster1.xml" Id="Rd849a4ba99d841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2a1ecf72e04ead" /><Relationship Type="http://schemas.openxmlformats.org/officeDocument/2006/relationships/notesMaster" Target="/ppt/notesMasters/notesMaster1.xml" Id="R605cd15b9e58424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7bc32bfdb84012" /><Relationship Type="http://schemas.openxmlformats.org/officeDocument/2006/relationships/notesMaster" Target="/ppt/notesMasters/notesMaster1.xml" Id="R0e8eb834784f4d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091ba54b930453d" /><Relationship Type="http://schemas.openxmlformats.org/officeDocument/2006/relationships/notesMaster" Target="/ppt/notesMasters/notesMaster1.xml" Id="R279f2a506a5b43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Çalışan sentetik demo. Üretime hazır savunma/banka ürünü iddiası değildir. Kaynak: README.md ve docs/CALISAN_MIMARI.md. Kapak fotoğrafı seçilen Simple Dark Mode şablonundan aynen korunmuştur.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Bunlar ürün ihtiyacı hipotezleridir. Gerçek kurum görüşmeleri yapılmadı. Pilot planı: docs/ARGE_VE_TICARILESME.md.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Kod: safepatch/orchestrator.py, engine.py, memory.py, worker1.py, worker2.py, runner.py, acceptance.py. Native servisler ayrı süreçlerdir; aynı OS kullanıcısı güçlü bir güvenlik sınırı değildir.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V0.1: muhafazakâr hash/sözleşme eşleştirmesi; vektör RAG veya AST/dataflow uygunluğu değil. Testler: tests/test_memory.py. Benchmark hafıza onayı simüledir ve ayrı DB’dedir.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Test geçişi yalnız bu testlerin kapsadığı davranış için kanıttır. Genel güvenlik veya semantik doğruluk ispatı değildir. docs/CALISAN_MIMARI.md.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Kaynak: bu depodaki kod ve evidence/. Docker/HA/SSO/kurumsal pilot için sonuç üretilmedi.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evidence/benchmark/construction.json. 1/3 yalnız üç hazırlık vakasına aittir. Bağımsız holdout başarı oranı değildir. İnsan onayı yalnız benchmark veritabanında simüle edildi.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Kaynak: evidence/benchmark/summary.json ve runs.csv. Küçük varyantlar aynı aileye aittir; bağımsız proje/CVE holdout değildir. Ortanca tüm sonuçları içerir; başarıyla tamamlanan iş süresi ile başarısız iş süresi karıştırılarak üstünlük iddia edilmez. Bu ilk karşılaştırma bağımlılık güncellemesi öncesi ortamda yapıldı; güncel sürüm ayrıca release smoke ile doğrulanır.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evidence/benchmark/runs.csv; sql-01 recurrence, n=1/kol. A 56.865, B 57.8, C 46.73 saniye. %17.8 bu örneğe aittir; müşteri tasarrufu değildir. Model süresi ve toplam süre ayrı gösterilir. İlk ölçüm ortamı güncelleme öncesidir.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evidence/release-smoke.json. FastAPI 0.141.1 / Starlette 1.6.0. Gerçek LLM, HTTP worker’lar, Java/Semgrep; kontrol API’si in-process test istemcisinde. İlk onarım 67.244 sn, replay 50.931 sn. Geri çekme sonrası bekleyen iş needs_human oldu. n=1 eşleştirme; istatistiksel genelleme yapılmaz.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Kaynak: evidence/acceptance/summary.json ve tekil sonuç dosyaları. V2 false accept=0 yalnız bu kasıtlı kontrol havuzunu ifade eder; gerçek dünya yanlış kabul oranı değildir.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Kaynak: evidence/unit-tests.xml, java-integration.xml, staging-integration.xml, dependency-audit*.json, network-namespace.json. Native çalışma profili güçlü sandbox değildir.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docs/CALISAN_MIMARI.md ile HEDEF_MIMARI_V2.md arasındaki açıklar. Bu sürüm savunma/banka üretim ortamına hazır değildir.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docs/ARGE_VE_TICARILESME.md. Sonar güncel AI CodeFix dokümanı yerel gateway desteğini belirtir: https://docs.sonarsource.com/sonarqube-server/instance-administration/ai-features/enable-ai-codefix.md . Rakiplerle lisanslı başa baş test veya müşteri görüşmesi yapılmadı.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Bunlar önerilen sonraki işlerdir, tamamlanmış çıktılar değildir. 20 geliştirme + 40 bağımsız değerlendirme vakası planlanır; mevcut varyantlar bu hedefi doldurmaz.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adımları: docs/SUNUM_VE_DEMO.md. Repo: https://github.com/karabulutsevket/DevSecOps_SafePatch_TUBITAKV0.1 . Gerçek kullanıcı onayı olmadan operasyon veritabanına onay eklemeyin.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e9db396c548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f89618c1641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097d8905014b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16ad58df143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50759ebe3d48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22b08e2588432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67588ebce1403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f709b622f4c8f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afc799c3804e1e" /><Relationship Type="http://schemas.openxmlformats.org/officeDocument/2006/relationships/slideLayout" Target="/ppt/slideLayouts/slideLayout1.xml" Id="R68de008c21034520" /><Relationship Type="http://schemas.openxmlformats.org/officeDocument/2006/relationships/slideLayout" Target="/ppt/slideLayouts/slideLayout2.xml" Id="R04a2a5ed7e594e5f" /><Relationship Type="http://schemas.openxmlformats.org/officeDocument/2006/relationships/slideLayout" Target="/ppt/slideLayouts/slideLayout3.xml" Id="R62610d919e244b53" /><Relationship Type="http://schemas.openxmlformats.org/officeDocument/2006/relationships/slideLayout" Target="/ppt/slideLayouts/slideLayout4.xml" Id="R01b4b3025eb744e6" /><Relationship Type="http://schemas.openxmlformats.org/officeDocument/2006/relationships/slideLayout" Target="/ppt/slideLayouts/slideLayout5.xml" Id="R647ed9fa6ef74e78" /><Relationship Type="http://schemas.openxmlformats.org/officeDocument/2006/relationships/slideLayout" Target="/ppt/slideLayouts/slideLayout6.xml" Id="Ree8e4b6f1cbb482c" /><Relationship Type="http://schemas.openxmlformats.org/officeDocument/2006/relationships/slideLayout" Target="/ppt/slideLayouts/slideLayout7.xml" Id="R512e05d922fa4d26" /><Relationship Type="http://schemas.openxmlformats.org/officeDocument/2006/relationships/slideLayout" Target="/ppt/slideLayouts/slideLayout8.xml" Id="Rd58bd1162d51485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de008c21034520"/>
    <p:sldLayoutId xmlns:r="http://schemas.openxmlformats.org/officeDocument/2006/relationships" id="2147483650" r:id="R04a2a5ed7e594e5f"/>
    <p:sldLayoutId xmlns:r="http://schemas.openxmlformats.org/officeDocument/2006/relationships" id="2147483651" r:id="R62610d919e244b53"/>
    <p:sldLayoutId xmlns:r="http://schemas.openxmlformats.org/officeDocument/2006/relationships" id="2147483652" r:id="R01b4b3025eb744e6"/>
    <p:sldLayoutId xmlns:r="http://schemas.openxmlformats.org/officeDocument/2006/relationships" id="2147483653" r:id="R647ed9fa6ef74e78"/>
    <p:sldLayoutId xmlns:r="http://schemas.openxmlformats.org/officeDocument/2006/relationships" id="2147483654" r:id="Ree8e4b6f1cbb482c"/>
    <p:sldLayoutId xmlns:r="http://schemas.openxmlformats.org/officeDocument/2006/relationships" id="2147483655" r:id="R512e05d922fa4d26"/>
    <p:sldLayoutId xmlns:r="http://schemas.openxmlformats.org/officeDocument/2006/relationships" id="2147483656" r:id="Rd58bd1162d514854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3cbd6ff654a02" /><Relationship Type="http://schemas.openxmlformats.org/officeDocument/2006/relationships/image" Target="/ppt/media/image.png" Id="R85bd1480b2ae4930" /><Relationship Type="http://schemas.openxmlformats.org/officeDocument/2006/relationships/notesSlide" Target="/ppt/notesSlides/notesSlide1.xml" Id="Ra9de020bb21344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3aca5dcb854a71" /><Relationship Type="http://schemas.openxmlformats.org/officeDocument/2006/relationships/notesSlide" Target="/ppt/notesSlides/notesSlide2.xml" Id="R419d94ec86744a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4b4d0ea7ca49c9" /><Relationship Type="http://schemas.openxmlformats.org/officeDocument/2006/relationships/notesSlide" Target="/ppt/notesSlides/notesSlide3.xml" Id="R1041a8475c4f49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77324ec0554241" /><Relationship Type="http://schemas.openxmlformats.org/officeDocument/2006/relationships/notesSlide" Target="/ppt/notesSlides/notesSlide4.xml" Id="R1ba4572536994b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daa7d38434f11" /><Relationship Type="http://schemas.openxmlformats.org/officeDocument/2006/relationships/notesSlide" Target="/ppt/notesSlides/notesSlide5.xml" Id="R60d8c5fd903c4c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94d13db6384963" /><Relationship Type="http://schemas.openxmlformats.org/officeDocument/2006/relationships/notesSlide" Target="/ppt/notesSlides/notesSlide6.xml" Id="R3418e92a516344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67adf5e3de4da9" /><Relationship Type="http://schemas.openxmlformats.org/officeDocument/2006/relationships/notesSlide" Target="/ppt/notesSlides/notesSlide7.xml" Id="R4fe03f9296554e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b8ababb67b404f" /><Relationship Type="http://schemas.openxmlformats.org/officeDocument/2006/relationships/notesSlide" Target="/ppt/notesSlides/notesSlide8.xml" Id="R649a47c449544d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ea56e85b0d47fd" /><Relationship Type="http://schemas.openxmlformats.org/officeDocument/2006/relationships/chart" Target="/ppt/slides/charts/chart1.xml" Id="R7671f5785e904b53" /><Relationship Type="http://schemas.openxmlformats.org/officeDocument/2006/relationships/notesSlide" Target="/ppt/notesSlides/notesSlide9.xml" Id="R1c4a843118544c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62508139224ba6" /><Relationship Type="http://schemas.openxmlformats.org/officeDocument/2006/relationships/notesSlide" Target="/ppt/notesSlides/notesSlide10.xml" Id="Rbafd303b187f46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3fd53597b843e1" /><Relationship Type="http://schemas.openxmlformats.org/officeDocument/2006/relationships/notesSlide" Target="/ppt/notesSlides/notesSlide11.xml" Id="R304e172dae3f4d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a586531df14d5a" /><Relationship Type="http://schemas.openxmlformats.org/officeDocument/2006/relationships/notesSlide" Target="/ppt/notesSlides/notesSlide12.xml" Id="R74f262109d4a46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ff3abc127e478a" /><Relationship Type="http://schemas.openxmlformats.org/officeDocument/2006/relationships/notesSlide" Target="/ppt/notesSlides/notesSlide13.xml" Id="Rd04053c52dae4a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28598a41bf47c7" /><Relationship Type="http://schemas.openxmlformats.org/officeDocument/2006/relationships/notesSlide" Target="/ppt/notesSlides/notesSlide14.xml" Id="Rf5e6257f797a47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74f8d9000744d1" /><Relationship Type="http://schemas.openxmlformats.org/officeDocument/2006/relationships/notesSlide" Target="/ppt/notesSlides/notesSlide15.xml" Id="R636b520442a743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47cc7f44e4dca" /><Relationship Type="http://schemas.openxmlformats.org/officeDocument/2006/relationships/notesSlide" Target="/ppt/notesSlides/notesSlide16.xml" Id="Rd0babd90842343d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Toplam süre (sn)</c:v>
          </c:tx>
          <c:spPr>
            <a:solidFill xmlns:a="http://schemas.openxmlformats.org/drawingml/2006/main">
              <a:srgbClr val="6DCBF4"/>
            </a:solidFill>
          </c:spPr>
          <c:cat>
            <c:strRef>
              <c:f>'Chart Data'!$A$2:$A$4</c:f>
              <c:strCache>
                <c:ptCount val="3"/>
                <c:pt idx="0">
                  <c:v>A Hafızasız</c:v>
                </c:pt>
                <c:pt idx="1">
                  <c:v>B Örnek</c:v>
                </c:pt>
                <c:pt idx="2">
                  <c:v>C Tekrar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56.865</c:v>
                </c:pt>
                <c:pt idx="1">
                  <c:v>57.8</c:v>
                </c:pt>
                <c:pt idx="2">
                  <c:v>46.73</c:v>
                </c:pt>
              </c:numCache>
            </c:numRef>
          </c:val>
        </c:ser>
        <c:ser>
          <c:idx val="1"/>
          <c:order val="1"/>
          <c:tx>
            <c:v>Model süresi (sn)</c:v>
          </c:tx>
          <c:spPr>
            <a:solidFill xmlns:a="http://schemas.openxmlformats.org/drawingml/2006/main">
              <a:srgbClr val="3D8DFF"/>
            </a:solidFill>
          </c:spPr>
          <c:cat>
            <c:strRef>
              <c:f>'Chart Data'!$C$2:$C$4</c:f>
              <c:strCache>
                <c:ptCount val="3"/>
                <c:pt idx="0">
                  <c:v>A Hafızasız</c:v>
                </c:pt>
                <c:pt idx="1">
                  <c:v>B Örnek</c:v>
                </c:pt>
                <c:pt idx="2">
                  <c:v>C Tekrar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7.953</c:v>
                </c:pt>
                <c:pt idx="1">
                  <c:v>8.14</c:v>
                </c:pt>
                <c:pt idx="2">
                  <c:v>0.000584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555555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000000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FFFFFF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000000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733" y="1907316"/>
            <a:ext cx="7174888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5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SafePatch</a:t>
            </a:r>
          </a:p>
          <a:p xmlns:a="http://schemas.openxmlformats.org/drawingml/2006/main">
            <a:pPr>
              <a:defRPr sz="55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V0.1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733" y="5264722"/>
            <a:ext cx="6910483" cy="108024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Yerel Java onarımı, doğrulama ve yama hafızası</a:t>
            </a:r>
          </a:p>
          <a:p xmlns:a="http://schemas.openxmlformats.org/drawingml/2006/main">
            <a:pPr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Teknik demo · Ar-Ge · Ticarileşme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34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BULGUDAN ONAYLI YAMAYA</a:t>
            </a:r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d1480b2ae4930"/>
          <a:srcRect xmlns:a="http://schemas.openxmlformats.org/drawingml/2006/main" l="8269" t="0" r="8269" b="0"/>
          <a:stretch xmlns:a="http://schemas.openxmlformats.org/drawingml/2006/main"/>
        </p:blipFill>
        <p:spPr>
          <a:xfrm xmlns:a="http://schemas.openxmlformats.org/drawingml/2006/main">
            <a:off x="7899094" y="0"/>
            <a:ext cx="4292906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SafePatch V0.1 · Sentetik demo · 12.09.2026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Çözdüğümüz problem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Onarım yükü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Bulgu, kod değişikliği, test ve inceleme farklı adımlarda yürütülüyor. Hedef: bu akışı ölçülebilir hâle getirmek.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Kurum hafızası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İncelenmiş bir düzeltmeyi yalnız uygun koşullarda yeniden kullanmak; gerektiğinde geri çekebilmek.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Yanlış yama riski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Tarayıcı bulgusu kaybolabilir; meşru davranış veya güvenlik hâlâ bozuk olabilir. Ayrı kabul testleri gerekiyor.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SafePatch V0.1 · Sentetik demo · 12.09.2026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Çalışan mimari: dört temel sorumluluk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· Yama hafızası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SQLite, uygunluk koşulları, köken ve kullanım izi. Karantina / geri çekme.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· Orkestratör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FastAPI, iş sırası, yetki ve bütçe. Kod/dağıtım kararları ayrı rollerde.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 · Doğrulayıcı / runner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Maven, korunan JUnit, Semgrep. Commit, JAR ve kanıt hash ile bağlanır.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· Yerel model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Ollama + sabit Qwen 7B. Yama önerir; inceleme veya dağıtım onayı vermez.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Kayıtlı Java deposu → tarama → hafıza / model → bağımsız doğrulama → insan onayı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SafePatch V0.1 · Sentetik demo · 12.09.2026</a:t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Hafıza bir onay ve geri çekme döngüsüdür</a:t>
            </a:r>
          </a:p>
        </p:txBody>
      </p:sp>
      <p:cxnSp>
        <p:nvCxnSpPr>
          <p:cNvPr id="29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1454232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İncele ve kaydet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Kod testleri geçer. İnsan diff’i onaylar. Ayrı bir kararla hafızaya alınır. Model ağırlıkları değişmez.</a:t>
            </a: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Uygunluğu kontrol et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Proje, kural, Java, derleme ve test sözleşmesi eşleşir. Aynı kaynaksa yama tekrarlanır; testler yine çalışır.</a:t>
            </a:r>
            <a:endParaRPr/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Gerektiğinde geri çek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Yeni kullanım engellenir. Bağlı bekleyen onaylar iptal edilir. Dağıtılmış işler için görünür uyarı oluşur.</a:t>
            </a:r>
            <a:endParaRPr/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Yeniden kullanım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Onay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39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Geri çekme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SafePatch V0.1 · Sentetik demo · 12.09.2026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Bir aday hangi koşullarda kabul edilir?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Meşru davranış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İşlevi kapatan veya sabit yanıt veren “düzeltme” testte reddedilir.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Derleme ve artifact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Temiz dizinde Maven offline. Onaylanan JAR sonradan yeniden derlenmez.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Tarama ve bütünlük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Gerçek Semgrep; kaynak ve test hash kontrolü. Tarayıcı hatası temiz sonuç değildir.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Güvenlik tanığı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SQL/path/command saldırı örneği tekrar çalışır; korunan test değiştirilemez.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Başlangıç kodunda normal davranış geçer, beklenen güvenlik tanığı başarısız olur. Ardından her aday baştan doğrulanır.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SafePatch V0.1 · Sentetik demo · 12.09.2026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V0.1 kapsamı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Çalışan yetenek ile gelecek hedefi ayrı tutuyoruz.</a:t>
            </a:r>
          </a:p>
        </p:txBody>
      </p:sp>
      <p:graphicFrame>
        <p:nvGraphicFramePr>
          <p:cNvPr id="539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Bileşen</a:t>
                      </a:r>
                      <a:endParaRPr sz="1400" b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38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Çalışıyor</a:t>
                      </a:r>
                      <a:endParaRPr sz="1400" b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Kanıt</a:t>
                      </a:r>
                      <a:endParaRPr sz="1400" b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38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Kapsam</a:t>
                      </a:r>
                      <a:endParaRPr sz="1400" b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38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Sonraki adım</a:t>
                      </a:r>
                      <a:endParaRPr sz="1400" b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Yerel Qwen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Evet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Gerçek koşu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7B / 8 GB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 kıyası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Semgrep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Evet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Gerçek tarama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 özel kural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Geniş kapsama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Yama hafızası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Evet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Yaşam döngüsü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Hash / sözleşme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AST önkoşulu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İnsan onayı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Evet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 / hash testi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Yerel kullanıcı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Kurumsal SSO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Staging / rollback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Evet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Gerçek JAR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Sentetik yerel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Kurum CI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SonarQube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Adaptör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Sözleşme testi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Canlı test yok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Lisanslı pilot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Sandbox / airgap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Kısmi prob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Namespace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Tam sistem değil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İzole runner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Snyk / Trivy / Grype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Hayır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Plan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Entegre değil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Ayrı adaptörler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Modelin her önerisi kabul edilmiyor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SQL tek denemede geçti.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Başarılı hafıza kaydı oluştu.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Tek onaylı örnek.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Değerlendirmede sabit.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Path / command durduruldu.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Tarama temizliği yetmedi.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 / 3</a:t>
            </a:r>
            <a:endParaRPr sz="7500"/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 / 3</a:t>
            </a:r>
            <a:endParaRPr sz="7500"/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  <a:endParaRPr sz="7500"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Hafıza hazırlığı: 3 farklı sentetik zafiyet ailesi. Yalnız testlerden geçen gerçek model yaması örnek havuzuna alındı.</a:t>
            </a:r>
          </a:p>
        </p:txBody>
      </p:sp>
      <p:sp>
        <p:nvSpPr>
          <p:cNvPr id="9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472BC53-6948-EE0F-E8E5-5488EF53DF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SafePatch V0.1 · Sentetik demo · 12.09.2026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SafePatch V0.1 · Sentetik demo · 12.09.2026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Üç yaklaşım, aynı model ve bütçe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İlk ölçüm ortamı. A: hafızasız · B: kural örneği · C: uygunluk + tekrar</a:t>
            </a:r>
          </a:p>
        </p:txBody>
      </p:sp>
      <p:graphicFrame>
        <p:nvGraphicFramePr>
          <p:cNvPr id="539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Kapsam</a:t>
                      </a:r>
                      <a:endParaRPr sz="1400" b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38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Kol</a:t>
                      </a:r>
                      <a:endParaRPr sz="1400" b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Kabul / n</a:t>
                      </a:r>
                      <a:endParaRPr sz="1400" b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38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Ortanca sn</a:t>
                      </a:r>
                      <a:endParaRPr sz="1400" b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38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Yorum</a:t>
                      </a:r>
                      <a:endParaRPr sz="1400" b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Aynı kaynak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/ 3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56,9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Tüm sonuçlar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Aynı kaynak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/ 3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60,6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Tüm sonuçlar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Aynı kaynak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/ 3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60,1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Tüm sonuçlar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Küçük varyant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/ 3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67,8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Tüm sonuçlar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Küçük varyant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/ 3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69,7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Tüm sonuçlar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Küçük varyant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/ 3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68,6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Tüm sonuçlar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 koşu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 aile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Tek seed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Ayrı DB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Hafıza sabit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Genelleme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Yapılmadı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Holdout yok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Pilot yok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Ham CSV var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34472" y="6037263"/>
            <a:ext cx="35687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SafePatch V0.1 · Sentetik demo · 12.09.2026</a:t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Aynı SQL yamasını yeniden kullanmak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%17,8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 koşuda daha kısa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toplam süre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Tekrar kolunda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 token’ı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Üçünde de kabul koşulları geçti.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Tekrar kolu LLM çağrısını atladı; derleme, test ve tarama yine çalıştı. Bu tek eşleştirilmiş örnektir.</a:t>
            </a:r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71f5785e904b53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Güncel runtime ile akış yeniden doğrulandı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saniye · ilk onarım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Yerel model + tüm kontroller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 tek örnekte süre farkı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Müşteri tasarrufu değildir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saniye · aynı yama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 çağrısı yok; tekrar test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67,2</a:t>
            </a:r>
            <a:endParaRPr sz="7500"/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50,9</a:t>
            </a:r>
            <a:endParaRPr sz="7500"/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%24,3</a:t>
            </a:r>
            <a:endParaRPr sz="7500"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Bağımlılık güncellemesi sonrası gerçek SQL onarımı, yeniden kullanım ve geri çekme. İnsan rolleri yalnız ayrı test DB’sinde simüle edildi.</a:t>
            </a:r>
          </a:p>
        </p:txBody>
      </p:sp>
      <p:sp>
        <p:nvSpPr>
          <p:cNvPr id="9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472BC53-6948-EE0F-E8E5-5488EF53DF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SafePatch V0.1 · Sentetik demo · 12.09.2026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SafePatch V0.1 · Sentetik demo · 12.09.2026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Tarayıcı temizliği kabul için yeterli değil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Aynı aday havuzu: 3 referans onarım + 6 bilerek bozulan işlev. Gerçek Java ve Semgrep.</a:t>
            </a:r>
          </a:p>
        </p:txBody>
      </p:sp>
      <p:graphicFrame>
        <p:nvGraphicFramePr>
          <p:cNvPr id="539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Kabul kapısı</a:t>
                      </a:r>
                      <a:endParaRPr sz="1400" b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38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İyi aday</a:t>
                      </a:r>
                      <a:endParaRPr sz="1400" b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Kabul</a:t>
                      </a:r>
                      <a:endParaRPr sz="1400" b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38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Kötü aday</a:t>
                      </a:r>
                      <a:endParaRPr sz="1400" b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38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Yanlış kabul</a:t>
                      </a:r>
                      <a:endParaRPr sz="1400" b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Yalnız tarama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Derleme + tarama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Tüm kontroller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Kontrol adayları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Elle yazıldı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LLM değil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Aynı havuz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Adil kapı kıyası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Kötü aday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İşlev kapatma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Sabit yanıt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Davranış kaybı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Beklenen ret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Güvenlik tanığı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Korunuyor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Değişmez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 yazamaz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Bağımsız kabul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Sınır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 sentetik aile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Genel ispat yok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Kör uzman yok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Pilot gerekli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Kanıt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evidence/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acceptance/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JSON sonuçlar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388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Tekrarlanabilir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SafePatch V0.1 · Sentetik demo · 12.09.2026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İşletim kontrolleri test edildi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Java / staging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Gerçek derleme ve testler. Aynı JAR ile staging ve rollback; insan rolleri simüle.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Birim / sözleşme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87 test geçti. Rol, uygunluk, hash, bütçe, iptal ve geri çekme.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Ağ sınırı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Ayrı Linux namespace dış bağlantıyı engelledi. Bütün uygulama airgap testi değil.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Bağımlılık kontrolü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OSV bildirimleri üzerine güncelleme. Python kilidi tekrar tarandı.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Test sayısı, başarılı AI onarımı sayısı değildir. Her kanıt türü ayrı raporlanır.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SafePatch V0.1 · Sentetik demo · 12.09.2026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Ürüne dönüşmeden önce kapanacak boşluklar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Gerçek proje kapsaması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Bugün kayıtlı sentetik depolar var. Müşteri repo adaptörü, daha geniş Java kuralları ve bağımsız holdout gerekiyor.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Kalite ve genelleme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Küçük modelin başarısızlıkları görünür. Daha büyük model ve uygunluk yöntemleri aynı bütçe altında karşılaştırılmalı.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İzolasyon ve işletim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Tam sistem egress, kötü niyetli build sandbox’ı, offline güncelleme, SSO ve asimetrik imza tamamlanmalı.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SafePatch V0.1 · Sentetik demo · 12.09.2026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Ticari değer pilotta ölçülecek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Müşteri hipotezi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Kapalı ağda Java geliştiren ekiplerde onarım ve inceleme yükünü azaltmak. AppSec ve platform ekipleriyle doğrulanmalı.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Farklılaşma hedefi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Uygun yama kullanımı, yanlış kabulün azaltılması ve geri çekilebilir hafıza. Yalnız yerel LLM yeni değildir.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Satın alınabilir paket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Kurum içi kurulum, sınırlı repo/kural kapsamı ve yıllık destek denenebilir. Fiyat ve ödeme isteği ölçülmedi.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SafePatch V0.1 · Sentetik demo · 12.09.2026</a:t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Bir sonraki kanıt paketi</a:t>
            </a:r>
          </a:p>
        </p:txBody>
      </p:sp>
      <p:cxnSp>
        <p:nvCxnSpPr>
          <p:cNvPr id="29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1454232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Ar-Ge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AST/veri akışı önkoşulları. Proje/CVE ailesine göre ayrılmış değerlendirme. Aynı model ve bütçede ablation.</a:t>
            </a: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Kurum pilotu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Yetkili gerçek Java projeleri. Bağımsız AppSec değerlendirmesi. Aktif mühendis süresi ve yeniden açılan bulgular.</a:t>
            </a:r>
            <a:endParaRPr/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Ticari doğrulama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8–12 keşif görüşmesi. İki ücretli pilot adayı. Lisans, kurulum, bakım maliyeti ve satın alma kararı.</a:t>
            </a:r>
            <a:endParaRPr/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Kullanım kanıtı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Teknik kanıt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39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Satış kanıtı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Canlı</a:t>
            </a:r>
          </a:p>
          <a:p xmlns:a="http://schemas.openxmlformats.org/drawingml/2006/main">
            <a:pPr>
              <a:defRPr sz="4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gösterim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Canlı demo: SQL düzeltme → inceleme → hafıza → tekrar test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Kod ve ham ölçümler: GitHub deposu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Sonraki karar: gerçek kurum pilotu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5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SAFEPATCH V0.1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2026-09-12T17:46:02.0780000Z</dcterms:created>
  <dcterms:modified xsi:type="dcterms:W3CDTF">2026-09-12T17:46:02.0780000Z</dcterms:modified>
</coreProperties>
</file>